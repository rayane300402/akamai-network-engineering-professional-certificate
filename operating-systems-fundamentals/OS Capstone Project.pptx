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9" r:id="rId3"/>
    <p:sldId id="270" r:id="rId4"/>
    <p:sldId id="276" r:id="rId5"/>
    <p:sldId id="265" r:id="rId6"/>
    <p:sldId id="277" r:id="rId7"/>
    <p:sldId id="267" r:id="rId8"/>
    <p:sldId id="278" r:id="rId9"/>
    <p:sldId id="271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C4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50" d="100"/>
          <a:sy n="50" d="100"/>
        </p:scale>
        <p:origin x="188" y="13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11/9/2025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11/9/2025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 Project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Operating Systems </a:t>
            </a:r>
            <a:r>
              <a:rPr lang="en-US" dirty="0" err="1"/>
              <a:t>Funadamentals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85800"/>
            <a:ext cx="9144000" cy="762000"/>
          </a:xfrm>
        </p:spPr>
        <p:txBody>
          <a:bodyPr/>
          <a:lstStyle/>
          <a:p>
            <a:r>
              <a:rPr lang="en-US" dirty="0"/>
              <a:t>Table of Content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9433C-FE38-9621-3785-7B335F41C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/>
              <a:t>Introduction</a:t>
            </a:r>
          </a:p>
          <a:p>
            <a:pPr marL="457200" indent="-457200">
              <a:buAutoNum type="arabicPeriod"/>
            </a:pPr>
            <a:r>
              <a:rPr lang="en-US" sz="2800" dirty="0"/>
              <a:t>Users</a:t>
            </a:r>
          </a:p>
          <a:p>
            <a:pPr marL="457200" indent="-457200">
              <a:buAutoNum type="arabicPeriod"/>
            </a:pPr>
            <a:r>
              <a:rPr lang="en-US" sz="2800" dirty="0"/>
              <a:t>File Structure</a:t>
            </a:r>
          </a:p>
          <a:p>
            <a:pPr marL="457200" indent="-457200">
              <a:buAutoNum type="arabicPeriod"/>
            </a:pPr>
            <a:r>
              <a:rPr lang="en-US" sz="2800" dirty="0"/>
              <a:t>Group Accounts</a:t>
            </a:r>
          </a:p>
          <a:p>
            <a:pPr marL="457200" indent="-457200">
              <a:buAutoNum type="arabicPeriod"/>
            </a:pPr>
            <a:r>
              <a:rPr lang="en-US" sz="2800" dirty="0"/>
              <a:t>Permissions</a:t>
            </a:r>
          </a:p>
          <a:p>
            <a:pPr marL="457200" indent="-457200">
              <a:buAutoNum type="arabicPeriod"/>
            </a:pPr>
            <a:r>
              <a:rPr lang="en-US" sz="2800" dirty="0"/>
              <a:t>Backup</a:t>
            </a:r>
          </a:p>
          <a:p>
            <a:pPr marL="457200" indent="-457200">
              <a:buAutoNum type="arabicPeriod"/>
            </a:pPr>
            <a:r>
              <a:rPr lang="en-US" sz="28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Introduction- 1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Akamai has ordered a File Server. The company is called </a:t>
            </a:r>
            <a:r>
              <a:rPr lang="en-US" dirty="0" err="1"/>
              <a:t>SpeedVane</a:t>
            </a:r>
            <a:r>
              <a:rPr lang="en-US" dirty="0"/>
              <a:t>, and we are tasked to create 2 permanent users and 2 6-month interns. Set up the files </a:t>
            </a:r>
            <a:r>
              <a:rPr lang="en-US" dirty="0" err="1"/>
              <a:t>properly,and</a:t>
            </a:r>
            <a:r>
              <a:rPr lang="en-US" dirty="0"/>
              <a:t> give the proper permission to each user and finally set up a backup.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2ABB-A750-A56C-CD66-0001D8DF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AF6C-51DF-AB68-764E-51BC649E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Users- 2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C0695-F5E0-21C8-AA06-D996C0E0E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tasked to create 2 permanent employees, and a 6-month contract to 2 new interns.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85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Accounts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426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create a user, we use the command:</a:t>
            </a:r>
          </a:p>
          <a:p>
            <a:pPr lvl="1"/>
            <a:r>
              <a:rPr lang="en-US" sz="2400" dirty="0" err="1">
                <a:solidFill>
                  <a:srgbClr val="89C44B"/>
                </a:solidFill>
              </a:rPr>
              <a:t>adduser</a:t>
            </a:r>
            <a:r>
              <a:rPr lang="en-US" dirty="0"/>
              <a:t> </a:t>
            </a:r>
            <a:endParaRPr dirty="0"/>
          </a:p>
          <a:p>
            <a:r>
              <a:rPr lang="en-US" dirty="0"/>
              <a:t>Permanent employees:</a:t>
            </a:r>
          </a:p>
          <a:p>
            <a:pPr lvl="1"/>
            <a:r>
              <a:rPr lang="en-US" dirty="0"/>
              <a:t>Username: </a:t>
            </a:r>
            <a:r>
              <a:rPr lang="en-US" dirty="0" err="1"/>
              <a:t>jaden</a:t>
            </a:r>
            <a:endParaRPr lang="en-US" dirty="0"/>
          </a:p>
          <a:p>
            <a:pPr lvl="2"/>
            <a:r>
              <a:rPr lang="en-US" dirty="0"/>
              <a:t>Password:  </a:t>
            </a:r>
            <a:r>
              <a:rPr lang="en-US" dirty="0" err="1"/>
              <a:t>clayman</a:t>
            </a:r>
            <a:r>
              <a:rPr lang="en-US" dirty="0"/>
              <a:t>!@#</a:t>
            </a:r>
          </a:p>
          <a:p>
            <a:pPr lvl="1"/>
            <a:r>
              <a:rPr lang="en-US" dirty="0"/>
              <a:t>Username: </a:t>
            </a:r>
            <a:r>
              <a:rPr lang="en-US" dirty="0" err="1"/>
              <a:t>chazz</a:t>
            </a:r>
            <a:endParaRPr lang="en-US" dirty="0"/>
          </a:p>
          <a:p>
            <a:pPr lvl="2"/>
            <a:r>
              <a:rPr lang="en-US" dirty="0"/>
              <a:t>Password: duel123</a:t>
            </a:r>
            <a:endParaRPr dirty="0"/>
          </a:p>
          <a:p>
            <a:r>
              <a:rPr lang="en-US" dirty="0"/>
              <a:t>6-month contracted employees:</a:t>
            </a:r>
          </a:p>
          <a:p>
            <a:pPr lvl="1"/>
            <a:r>
              <a:rPr lang="en-US" dirty="0"/>
              <a:t>Username: </a:t>
            </a:r>
            <a:r>
              <a:rPr lang="en-US" dirty="0" err="1"/>
              <a:t>kenma</a:t>
            </a:r>
            <a:endParaRPr lang="en-US" dirty="0"/>
          </a:p>
          <a:p>
            <a:pPr lvl="2"/>
            <a:r>
              <a:rPr lang="en-US" dirty="0"/>
              <a:t>Password: </a:t>
            </a:r>
            <a:r>
              <a:rPr lang="en-US" dirty="0" err="1"/>
              <a:t>kozuken</a:t>
            </a:r>
            <a:endParaRPr lang="en-US" dirty="0"/>
          </a:p>
          <a:p>
            <a:pPr lvl="1"/>
            <a:r>
              <a:rPr lang="en-US" dirty="0"/>
              <a:t>Username:  lev</a:t>
            </a:r>
          </a:p>
          <a:p>
            <a:pPr lvl="2"/>
            <a:r>
              <a:rPr lang="en-US" dirty="0"/>
              <a:t>Password: </a:t>
            </a:r>
            <a:r>
              <a:rPr lang="en-US" dirty="0" err="1"/>
              <a:t>haikyUu</a:t>
            </a:r>
            <a:endParaRPr lang="en-US" dirty="0"/>
          </a:p>
        </p:txBody>
      </p:sp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B828391-FB82-9581-F1E8-3F01BE514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904" y="3810000"/>
            <a:ext cx="4886259" cy="286539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B6029C-61B3-AB71-73BE-EC118758B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5" t="14983" r="9485" b="12293"/>
          <a:stretch>
            <a:fillRect/>
          </a:stretch>
        </p:blipFill>
        <p:spPr>
          <a:xfrm>
            <a:off x="5936526" y="179632"/>
            <a:ext cx="3896012" cy="2721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9221F-368E-9A74-E444-76C45676D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259" y="1966838"/>
            <a:ext cx="4054710" cy="2374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098510-CFA1-1CA6-1CE0-6697C4286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041" y="4343400"/>
            <a:ext cx="3954848" cy="237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4743-AE09-C981-56C5-5E42ED2C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5D8B035-4E8E-6202-B174-FB597364D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Accounts</a:t>
            </a:r>
            <a:endParaRPr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D1A6C0F-135E-8004-019D-8C7B4CB80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109418"/>
            <a:ext cx="4305300" cy="2332038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F4ADBBD-22B0-A816-EE7D-8E5CE0D2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4267200"/>
          </a:xfrm>
        </p:spPr>
        <p:txBody>
          <a:bodyPr>
            <a:normAutofit/>
          </a:bodyPr>
          <a:lstStyle/>
          <a:p>
            <a:r>
              <a:rPr lang="en-US" dirty="0"/>
              <a:t>To check expiration date to our 2 interns we use command:</a:t>
            </a:r>
          </a:p>
          <a:p>
            <a:pPr lvl="1"/>
            <a:r>
              <a:rPr lang="en-US" sz="2400" dirty="0" err="1">
                <a:solidFill>
                  <a:srgbClr val="89C44B"/>
                </a:solidFill>
              </a:rPr>
              <a:t>chage</a:t>
            </a:r>
            <a:r>
              <a:rPr lang="en-US" dirty="0"/>
              <a:t> </a:t>
            </a:r>
            <a:endParaRPr dirty="0"/>
          </a:p>
          <a:p>
            <a:r>
              <a:rPr lang="en-US" dirty="0"/>
              <a:t>We keep our permanent employees as never for expiration whereas for the 2 interns they will only stay for 6 months.</a:t>
            </a:r>
          </a:p>
          <a:p>
            <a:r>
              <a:rPr lang="en-US" dirty="0"/>
              <a:t>To set it we use the command:</a:t>
            </a:r>
          </a:p>
          <a:p>
            <a:pPr lvl="1"/>
            <a:r>
              <a:rPr lang="en-US" sz="2400" dirty="0" err="1">
                <a:solidFill>
                  <a:srgbClr val="89C44B"/>
                </a:solidFill>
              </a:rPr>
              <a:t>usermod</a:t>
            </a:r>
            <a:endParaRPr lang="en-US" sz="2400" dirty="0">
              <a:solidFill>
                <a:srgbClr val="89C44B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Today is 9/11/2025 so 6 month from now would be 9/5/2026</a:t>
            </a:r>
          </a:p>
          <a:p>
            <a:pPr lvl="1"/>
            <a:endParaRPr lang="en-US" sz="2400" dirty="0">
              <a:solidFill>
                <a:srgbClr val="89C44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6CC53-D362-886C-AE4A-BB8580834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536" y="9166"/>
            <a:ext cx="4308764" cy="21002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9C4E2F-26DA-F639-CEE4-93EDC80BADD5}"/>
              </a:ext>
            </a:extLst>
          </p:cNvPr>
          <p:cNvSpPr/>
          <p:nvPr/>
        </p:nvSpPr>
        <p:spPr>
          <a:xfrm>
            <a:off x="6858000" y="468613"/>
            <a:ext cx="3810000" cy="152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F9C94-8C2E-15E4-0BA5-450CFAAF524F}"/>
              </a:ext>
            </a:extLst>
          </p:cNvPr>
          <p:cNvSpPr/>
          <p:nvPr/>
        </p:nvSpPr>
        <p:spPr>
          <a:xfrm>
            <a:off x="6858000" y="1447121"/>
            <a:ext cx="3810000" cy="152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9729-544E-664B-67F3-CC1DA3EDDB50}"/>
              </a:ext>
            </a:extLst>
          </p:cNvPr>
          <p:cNvSpPr/>
          <p:nvPr/>
        </p:nvSpPr>
        <p:spPr>
          <a:xfrm>
            <a:off x="6846068" y="2809559"/>
            <a:ext cx="3669531" cy="145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D9916C-540C-996A-6FE0-EF563632701B}"/>
              </a:ext>
            </a:extLst>
          </p:cNvPr>
          <p:cNvSpPr/>
          <p:nvPr/>
        </p:nvSpPr>
        <p:spPr>
          <a:xfrm>
            <a:off x="6846068" y="3757300"/>
            <a:ext cx="3517132" cy="145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3B73CA-C7FE-949B-B88E-5A588A56F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53" y="4494494"/>
            <a:ext cx="3988064" cy="23543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078D7E1-B2B7-76E7-8CB7-C3AF4118AC56}"/>
              </a:ext>
            </a:extLst>
          </p:cNvPr>
          <p:cNvSpPr/>
          <p:nvPr/>
        </p:nvSpPr>
        <p:spPr>
          <a:xfrm>
            <a:off x="6344656" y="5334679"/>
            <a:ext cx="3810000" cy="152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89FB33-4C6F-E5B5-65B4-DD069B2F84D3}"/>
              </a:ext>
            </a:extLst>
          </p:cNvPr>
          <p:cNvSpPr/>
          <p:nvPr/>
        </p:nvSpPr>
        <p:spPr>
          <a:xfrm>
            <a:off x="6381553" y="6175543"/>
            <a:ext cx="3810000" cy="152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 err="1"/>
              <a:t>Accounst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check if all our accounts were successfully created:</a:t>
            </a:r>
          </a:p>
          <a:p>
            <a:pPr lvl="1"/>
            <a:r>
              <a:rPr lang="en-US" dirty="0"/>
              <a:t>Just use </a:t>
            </a:r>
            <a:r>
              <a:rPr lang="en-US" dirty="0" err="1"/>
              <a:t>sudo</a:t>
            </a:r>
            <a:r>
              <a:rPr lang="en-US" dirty="0"/>
              <a:t> tail –n4 as they would be the most recent thing we did to</a:t>
            </a:r>
            <a:endParaRPr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A77559E-BF26-DB00-AA46-F6212A401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573" y="3432208"/>
            <a:ext cx="7544538" cy="18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B339-456B-392A-B83B-363791EC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BFE3-61DC-C4C3-0987-C937D3C9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Structure- 3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8DD66-CF1E-823A-5F9A-C86E52950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will create 2 folders, one for our permanent employees, and one for the interns with their respective files. Each Folder will have 2 folders of their own: UX and IT. _Permanent for the permanent users _Inter for the intern users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450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Structure- 3</a:t>
            </a:r>
            <a:endParaRPr dirty="0"/>
          </a:p>
        </p:txBody>
      </p:sp>
      <p:pic>
        <p:nvPicPr>
          <p:cNvPr id="8" name="Picture 7" descr="A screenshot of a computer program">
            <a:extLst>
              <a:ext uri="{FF2B5EF4-FFF2-40B4-BE49-F238E27FC236}">
                <a16:creationId xmlns:a16="http://schemas.microsoft.com/office/drawing/2014/main" id="{9F37BDF9-C709-6784-E816-BA6D164D3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14400"/>
            <a:ext cx="5887954" cy="2209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DAC0A4-53F9-D900-F220-D38789CB49EB}"/>
              </a:ext>
            </a:extLst>
          </p:cNvPr>
          <p:cNvSpPr txBox="1"/>
          <p:nvPr/>
        </p:nvSpPr>
        <p:spPr>
          <a:xfrm>
            <a:off x="1600200" y="1905000"/>
            <a:ext cx="45720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create a folder and subfolder we use this command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89C44B"/>
                </a:solidFill>
              </a:rPr>
              <a:t>mkdir</a:t>
            </a:r>
            <a:endParaRPr lang="en-US" sz="2800" dirty="0">
              <a:solidFill>
                <a:srgbClr val="89C44B"/>
              </a:solidFill>
            </a:endParaRPr>
          </a:p>
          <a:p>
            <a:endParaRPr lang="en-US" sz="2000" dirty="0"/>
          </a:p>
          <a:p>
            <a:r>
              <a:rPr lang="en-US" sz="2000" dirty="0"/>
              <a:t>To create files, we will use this command: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89C44B"/>
                </a:solidFill>
              </a:rPr>
              <a:t>touch</a:t>
            </a:r>
          </a:p>
          <a:p>
            <a:endParaRPr lang="en-US" dirty="0"/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620EF21-FD2C-EF6A-59CD-7A30FB8A8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3721101"/>
            <a:ext cx="4242726" cy="2951229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082BF63-4E03-1710-2356-00F7DB9C2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682" y="3162300"/>
            <a:ext cx="5296172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6498-FE74-8C31-40DC-DE05A5E29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ED79-1CBB-20A2-BAA6-8A464A0D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Accounts- 4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2096C-5D30-C380-7A90-F856B5881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will create 2 different groups, one for the permanent employees and one for the interns.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0062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2888-201B-1AA1-C78D-1549A7B6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7CE8DBA-13DE-FED8-A327-D03322E6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Accounts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70E7D18-141D-3D20-C75C-F3FDACD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4267200"/>
          </a:xfrm>
        </p:spPr>
        <p:txBody>
          <a:bodyPr>
            <a:normAutofit/>
          </a:bodyPr>
          <a:lstStyle/>
          <a:p>
            <a:r>
              <a:rPr lang="en-US" dirty="0"/>
              <a:t>To create a group acc, we use the command:</a:t>
            </a:r>
          </a:p>
          <a:p>
            <a:pPr lvl="1"/>
            <a:r>
              <a:rPr lang="en-US" sz="2400" dirty="0" err="1">
                <a:solidFill>
                  <a:srgbClr val="89C44B"/>
                </a:solidFill>
              </a:rPr>
              <a:t>groupadd</a:t>
            </a:r>
            <a:r>
              <a:rPr lang="en-US" dirty="0"/>
              <a:t> </a:t>
            </a:r>
          </a:p>
          <a:p>
            <a:r>
              <a:rPr lang="en-US" dirty="0"/>
              <a:t>We will create 2 groups:</a:t>
            </a:r>
          </a:p>
          <a:p>
            <a:pPr lvl="1"/>
            <a:r>
              <a:rPr lang="en-US" dirty="0"/>
              <a:t>permanent</a:t>
            </a:r>
          </a:p>
          <a:p>
            <a:pPr lvl="1"/>
            <a:r>
              <a:rPr lang="en-US" dirty="0"/>
              <a:t>Interns</a:t>
            </a:r>
          </a:p>
          <a:p>
            <a:r>
              <a:rPr lang="en-US" dirty="0"/>
              <a:t>To add the users to their respective groups, we use the command:</a:t>
            </a:r>
          </a:p>
          <a:p>
            <a:pPr lvl="1"/>
            <a:r>
              <a:rPr lang="en-US" sz="2400" dirty="0" err="1">
                <a:solidFill>
                  <a:srgbClr val="89C44B"/>
                </a:solidFill>
              </a:rPr>
              <a:t>usermod</a:t>
            </a:r>
            <a:r>
              <a:rPr lang="en-US" dirty="0"/>
              <a:t> </a:t>
            </a:r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1979E-538C-9F23-DE14-070E402BC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762000"/>
            <a:ext cx="7052891" cy="3200400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E2AD29-4649-DED2-C043-0C6E068C4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898787"/>
            <a:ext cx="6901979" cy="29592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F117FC-B8DB-56CF-2186-9B4B824167FB}"/>
              </a:ext>
            </a:extLst>
          </p:cNvPr>
          <p:cNvSpPr/>
          <p:nvPr/>
        </p:nvSpPr>
        <p:spPr>
          <a:xfrm>
            <a:off x="5638800" y="6019800"/>
            <a:ext cx="6901979" cy="381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84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8537-F9C5-B75E-5A15-4F9564D2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8ED0-E8FC-0AFD-C3DD-FA662801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Permissions- 5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1B975-E31A-8B92-929C-949E609DB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will change ownership, change permission and copy files to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skel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5832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36CE7-6784-77EF-1C9C-5382DE5E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DA6D2A8-4904-B0CC-FC87-E9081196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Accounts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5183A77-CE48-7D46-C056-7999160C0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4267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To change ownership, we use the command:</a:t>
            </a:r>
          </a:p>
          <a:p>
            <a:pPr lvl="1"/>
            <a:r>
              <a:rPr lang="en-US" sz="2400" dirty="0" err="1">
                <a:solidFill>
                  <a:srgbClr val="89C44B"/>
                </a:solidFill>
              </a:rPr>
              <a:t>chown</a:t>
            </a:r>
            <a:r>
              <a:rPr lang="en-US" dirty="0"/>
              <a:t> </a:t>
            </a:r>
          </a:p>
          <a:p>
            <a:r>
              <a:rPr lang="en-US" dirty="0"/>
              <a:t>We will change ownership for:</a:t>
            </a:r>
          </a:p>
          <a:p>
            <a:pPr lvl="1"/>
            <a:r>
              <a:rPr lang="en-US" dirty="0" err="1"/>
              <a:t>PermanentFiles</a:t>
            </a:r>
            <a:endParaRPr lang="en-US" dirty="0"/>
          </a:p>
          <a:p>
            <a:pPr lvl="1"/>
            <a:r>
              <a:rPr lang="en-US" dirty="0" err="1"/>
              <a:t>InternFiles</a:t>
            </a:r>
            <a:endParaRPr lang="en-US" dirty="0"/>
          </a:p>
          <a:p>
            <a:r>
              <a:rPr lang="en-US" dirty="0"/>
              <a:t>To change permissions, we use the command:</a:t>
            </a:r>
          </a:p>
          <a:p>
            <a:pPr lvl="1"/>
            <a:r>
              <a:rPr lang="en-US" sz="2400" dirty="0" err="1">
                <a:solidFill>
                  <a:srgbClr val="89C44B"/>
                </a:solidFill>
              </a:rPr>
              <a:t>chmod</a:t>
            </a:r>
            <a:r>
              <a:rPr lang="en-US" dirty="0"/>
              <a:t> </a:t>
            </a:r>
          </a:p>
          <a:p>
            <a:r>
              <a:rPr lang="en-US" dirty="0"/>
              <a:t>We will change permission of:</a:t>
            </a:r>
          </a:p>
          <a:p>
            <a:pPr lvl="1"/>
            <a:r>
              <a:rPr lang="en-US" dirty="0" err="1"/>
              <a:t>PermanentFiles</a:t>
            </a:r>
            <a:r>
              <a:rPr lang="en-US" dirty="0"/>
              <a:t>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 err="1"/>
              <a:t>InternFiles</a:t>
            </a:r>
            <a:r>
              <a:rPr lang="en-US" dirty="0"/>
              <a:t> </a:t>
            </a:r>
            <a:r>
              <a:rPr lang="en-US" dirty="0" err="1"/>
              <a:t>dir</a:t>
            </a:r>
            <a:endParaRPr lang="en-US" dirty="0"/>
          </a:p>
          <a:p>
            <a:r>
              <a:rPr lang="en-US" dirty="0"/>
              <a:t>WE WILL NOT USE SPECIAL PERMISSION</a:t>
            </a:r>
          </a:p>
          <a:p>
            <a:pPr lvl="1"/>
            <a:endParaRPr lang="en-US" dirty="0"/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FB61483-CC29-A389-80D0-FE4A0FAC0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234" y="504762"/>
            <a:ext cx="6898784" cy="322903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DC1786-029A-DD96-19E6-C0BEE6A8C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936999"/>
            <a:ext cx="5226319" cy="2121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1452B5-A978-EB77-FF1E-6CC164D5F516}"/>
              </a:ext>
            </a:extLst>
          </p:cNvPr>
          <p:cNvSpPr txBox="1"/>
          <p:nvPr/>
        </p:nvSpPr>
        <p:spPr>
          <a:xfrm>
            <a:off x="7772400" y="5421868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Rayane has full control to both files</a:t>
            </a:r>
          </a:p>
        </p:txBody>
      </p:sp>
    </p:spTree>
    <p:extLst>
      <p:ext uri="{BB962C8B-B14F-4D97-AF65-F5344CB8AC3E}">
        <p14:creationId xmlns:p14="http://schemas.microsoft.com/office/powerpoint/2010/main" val="3326307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5C43-AE9B-CACC-E4EC-833FF03D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30D8A83-42D1-0A11-BCCD-55CAD81A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Accounts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327B4D-DABD-30CD-7180-58CFBD111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4267200"/>
          </a:xfrm>
        </p:spPr>
        <p:txBody>
          <a:bodyPr>
            <a:normAutofit/>
          </a:bodyPr>
          <a:lstStyle/>
          <a:p>
            <a:r>
              <a:rPr lang="en-US" dirty="0"/>
              <a:t>To copy files to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skel</a:t>
            </a:r>
            <a:r>
              <a:rPr lang="en-US" dirty="0"/>
              <a:t>, we use the command:</a:t>
            </a:r>
          </a:p>
          <a:p>
            <a:pPr lvl="1"/>
            <a:r>
              <a:rPr lang="en-US" sz="2400">
                <a:solidFill>
                  <a:srgbClr val="89C44B"/>
                </a:solidFill>
              </a:rPr>
              <a:t>cp</a:t>
            </a:r>
            <a:r>
              <a:rPr lang="en-US"/>
              <a:t> </a:t>
            </a:r>
          </a:p>
          <a:p>
            <a:pPr lvl="1"/>
            <a:endParaRPr lang="en-US"/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39C32-2761-411D-F5EE-999F67436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467100"/>
            <a:ext cx="9500666" cy="2819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DDB471-D190-645C-4C82-0F6F5E106DF9}"/>
              </a:ext>
            </a:extLst>
          </p:cNvPr>
          <p:cNvSpPr/>
          <p:nvPr/>
        </p:nvSpPr>
        <p:spPr>
          <a:xfrm>
            <a:off x="1676400" y="4953000"/>
            <a:ext cx="8991600" cy="11430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90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41D2-4D33-ADCF-FD40-49845738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1D547-CFF6-05E0-0FFC-441A1317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Backup- 6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02E44-D2EA-07CE-2E31-72844471F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will create a backup, verify it, and schedule a regular backup (</a:t>
            </a:r>
            <a:r>
              <a:rPr lang="en-US" dirty="0" err="1"/>
              <a:t>cron</a:t>
            </a:r>
            <a:r>
              <a:rPr lang="en-US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7236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B51C7-E3D1-6C7D-B93C-9280DFE0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EAD1D75-52FC-561C-9BB5-473BF6F2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1378A3C-4B84-8F8B-00F9-AC180780D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4267200"/>
          </a:xfrm>
        </p:spPr>
        <p:txBody>
          <a:bodyPr>
            <a:normAutofit/>
          </a:bodyPr>
          <a:lstStyle/>
          <a:p>
            <a:r>
              <a:rPr lang="en-US" dirty="0"/>
              <a:t>To create a backup we will first create a </a:t>
            </a:r>
            <a:r>
              <a:rPr lang="en-US" dirty="0" err="1"/>
              <a:t>comnpressed</a:t>
            </a:r>
            <a:r>
              <a:rPr lang="en-US" dirty="0"/>
              <a:t> archive using</a:t>
            </a:r>
          </a:p>
          <a:p>
            <a:pPr lvl="1"/>
            <a:r>
              <a:rPr lang="en-US" sz="2400" dirty="0">
                <a:solidFill>
                  <a:srgbClr val="89C44B"/>
                </a:solidFill>
              </a:rPr>
              <a:t>tar </a:t>
            </a:r>
          </a:p>
          <a:p>
            <a:pPr lvl="1"/>
            <a:r>
              <a:rPr lang="en-US" sz="2400" dirty="0">
                <a:solidFill>
                  <a:srgbClr val="89C44B"/>
                </a:solidFill>
              </a:rPr>
              <a:t>We will use the –</a:t>
            </a:r>
            <a:r>
              <a:rPr lang="en-US" sz="2400" dirty="0" err="1">
                <a:solidFill>
                  <a:srgbClr val="89C44B"/>
                </a:solidFill>
              </a:rPr>
              <a:t>cvzf</a:t>
            </a:r>
            <a:r>
              <a:rPr lang="en-US" sz="2400" dirty="0">
                <a:solidFill>
                  <a:srgbClr val="89C44B"/>
                </a:solidFill>
              </a:rPr>
              <a:t> flag (create new </a:t>
            </a:r>
            <a:r>
              <a:rPr lang="en-US" sz="2400" dirty="0" err="1">
                <a:solidFill>
                  <a:srgbClr val="89C44B"/>
                </a:solidFill>
              </a:rPr>
              <a:t>archibe</a:t>
            </a:r>
            <a:r>
              <a:rPr lang="en-US" sz="2400" dirty="0">
                <a:solidFill>
                  <a:srgbClr val="89C44B"/>
                </a:solidFill>
              </a:rPr>
              <a:t>, verbose, compress with </a:t>
            </a:r>
            <a:r>
              <a:rPr lang="en-US" sz="2400" dirty="0" err="1">
                <a:solidFill>
                  <a:srgbClr val="89C44B"/>
                </a:solidFill>
              </a:rPr>
              <a:t>gzip</a:t>
            </a:r>
            <a:r>
              <a:rPr lang="en-US" sz="2400" dirty="0">
                <a:solidFill>
                  <a:srgbClr val="89C44B"/>
                </a:solidFill>
              </a:rPr>
              <a:t>, specify archive file name)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2247EA3-E59F-AC51-ED0A-A188EF812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600200"/>
            <a:ext cx="6648520" cy="3543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CB1B00-AF01-FCB4-E335-2AEF7D7F6D4B}"/>
              </a:ext>
            </a:extLst>
          </p:cNvPr>
          <p:cNvSpPr/>
          <p:nvPr/>
        </p:nvSpPr>
        <p:spPr>
          <a:xfrm>
            <a:off x="5943600" y="2667000"/>
            <a:ext cx="5715000" cy="2286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43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4407-21FC-ACB4-7A10-CEA6FCE1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90E640-FA85-BF80-EB10-2B69582F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20EBDEE-3B11-8BC8-22A5-6DD50FAE2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4267200"/>
          </a:xfrm>
        </p:spPr>
        <p:txBody>
          <a:bodyPr>
            <a:normAutofit/>
          </a:bodyPr>
          <a:lstStyle/>
          <a:p>
            <a:r>
              <a:rPr lang="en-US" dirty="0"/>
              <a:t>We will verify backup</a:t>
            </a:r>
          </a:p>
          <a:p>
            <a:r>
              <a:rPr lang="en-US" dirty="0"/>
              <a:t>Check the backup was created</a:t>
            </a:r>
          </a:p>
          <a:p>
            <a:r>
              <a:rPr lang="en-US" dirty="0"/>
              <a:t>And look at what is inside the backup</a:t>
            </a:r>
          </a:p>
          <a:p>
            <a:pPr lvl="1"/>
            <a:endParaRPr lang="en-US" dirty="0"/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980C9C8-9741-3D9E-B0A3-4E2ADB434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448" y="3240651"/>
            <a:ext cx="6058254" cy="360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8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11BA7-1EDD-7670-2728-EE5548A2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2962D07-242A-1533-7146-F387BD4D2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6E40AE4-2B0C-D74C-22BC-C4C0D0B6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1143000"/>
          </a:xfrm>
        </p:spPr>
        <p:txBody>
          <a:bodyPr>
            <a:normAutofit/>
          </a:bodyPr>
          <a:lstStyle/>
          <a:p>
            <a:r>
              <a:rPr lang="en-US" dirty="0"/>
              <a:t>We will schedule a regular backup</a:t>
            </a:r>
          </a:p>
          <a:p>
            <a:pPr lvl="1"/>
            <a:r>
              <a:rPr lang="en-US" dirty="0"/>
              <a:t>Check /</a:t>
            </a:r>
            <a:r>
              <a:rPr lang="en-US" dirty="0" err="1"/>
              <a:t>etc</a:t>
            </a:r>
            <a:r>
              <a:rPr lang="en-US" dirty="0"/>
              <a:t>/crontab</a:t>
            </a:r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F0588E8-2468-91A8-186F-7DBFD923D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793815"/>
            <a:ext cx="6979009" cy="36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7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9517-3209-4C47-56BB-1CCA4AB5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93C24CC-006A-9976-03E8-034BCB13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B2F586-C9CB-8F73-5890-A4BFFE651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4572000" cy="1143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We will schedule a regular backup</a:t>
            </a:r>
          </a:p>
          <a:p>
            <a:pPr lvl="1"/>
            <a:r>
              <a:rPr lang="en-US" dirty="0"/>
              <a:t>Open crontab to edit it via crontab –e we will use /bin/nano (could not take a screenshot as done before managing to take a picture)</a:t>
            </a:r>
          </a:p>
          <a:p>
            <a:pPr marL="365760" lvl="1" indent="0">
              <a:buNone/>
            </a:pPr>
            <a:endParaRPr lang="en-US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5C3B6B4-B9DB-A2A6-679B-A87C572D4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34903"/>
            <a:ext cx="5181600" cy="310121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98B55A-709F-1D16-94DE-CD6A4E5ED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819400"/>
            <a:ext cx="6344364" cy="39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63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FA4A-902F-2B67-581F-1C9E29BB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C0E1-542A-EFB0-6C53-302BA9BE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Conclusion- 7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E3C1C-F6E6-FA4D-35FC-A35E8F6BC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create a new company and in that company we have added 2 permanent employees and 2 interns. We created folders and files for both groups , then we created 2 Group Accounts one for the intern one of the permanent employees and moved them to the group. We set ownership and permissions. Then we create a back and added a </a:t>
            </a:r>
            <a:r>
              <a:rPr lang="en-US" dirty="0" err="1"/>
              <a:t>cron</a:t>
            </a:r>
            <a:r>
              <a:rPr lang="en-US" dirty="0"/>
              <a:t> job to backup everyday at 2am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728376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88</TotalTime>
  <Words>641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Candara</vt:lpstr>
      <vt:lpstr>Consolas</vt:lpstr>
      <vt:lpstr>Tech Computer 16x9</vt:lpstr>
      <vt:lpstr>Capstone Project</vt:lpstr>
      <vt:lpstr>Table of Content</vt:lpstr>
      <vt:lpstr>Introduction- 1</vt:lpstr>
      <vt:lpstr>Users- 2</vt:lpstr>
      <vt:lpstr>User Accounts</vt:lpstr>
      <vt:lpstr>User Accounts</vt:lpstr>
      <vt:lpstr>User Accounst</vt:lpstr>
      <vt:lpstr>File Structure- 3</vt:lpstr>
      <vt:lpstr>File Structure- 3</vt:lpstr>
      <vt:lpstr>Group Accounts- 4</vt:lpstr>
      <vt:lpstr>User Accounts</vt:lpstr>
      <vt:lpstr>File Permissions- 5</vt:lpstr>
      <vt:lpstr>User Accounts</vt:lpstr>
      <vt:lpstr>User Accounts</vt:lpstr>
      <vt:lpstr>Backup- 6</vt:lpstr>
      <vt:lpstr>Backup</vt:lpstr>
      <vt:lpstr>Backup</vt:lpstr>
      <vt:lpstr>Backup</vt:lpstr>
      <vt:lpstr>Backup</vt:lpstr>
      <vt:lpstr>Conclusion- 7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Rayane Naboulsi</dc:creator>
  <cp:lastModifiedBy>Rayane Naboulsi</cp:lastModifiedBy>
  <cp:revision>7</cp:revision>
  <dcterms:created xsi:type="dcterms:W3CDTF">2025-11-09T10:28:13Z</dcterms:created>
  <dcterms:modified xsi:type="dcterms:W3CDTF">2025-11-09T13:33:19Z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